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2194560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Острая травма зубов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0E4E8"/>
                </a:solidFill>
                <a:latin typeface="Calibri"/>
              </a:rPr>
              <a:t>Презентация · Белорусский государственный медицинский университет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A8C0C8"/>
                </a:solidFill>
                <a:latin typeface="Calibri"/>
              </a:rPr>
              <a:t>5 курс  ·  Стоматологический факультет  ·  Лекция №5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3A4A"/>
                </a:solidFill>
                <a:latin typeface="Calibri"/>
              </a:rPr>
              <a:t>План 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E2A32"/>
                </a:solidFill>
                <a:latin typeface="Calibri"/>
              </a:rPr>
              <a:t>• Определение и эпидемиология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E2A32"/>
                </a:solidFill>
                <a:latin typeface="Calibri"/>
              </a:rPr>
              <a:t>• Классификация травм зубов (ВОЗ / Andreasen)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E2A32"/>
                </a:solidFill>
                <a:latin typeface="Calibri"/>
              </a:rPr>
              <a:t>• Обследование пациента с травмой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E2A32"/>
                </a:solidFill>
                <a:latin typeface="Calibri"/>
              </a:rPr>
              <a:t>• Травмы твёрдых тканей коронки и корня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E2A32"/>
                </a:solidFill>
                <a:latin typeface="Calibri"/>
              </a:rPr>
              <a:t>• Травмы периодонта (люксации, вывих, полный вывих)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E2A32"/>
                </a:solidFill>
                <a:latin typeface="Calibri"/>
              </a:rPr>
              <a:t>• Неотложная помощь и лечение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E2A32"/>
                </a:solidFill>
                <a:latin typeface="Calibri"/>
              </a:rPr>
              <a:t>• Осложнения и диспансеризация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E2A32"/>
                </a:solidFill>
                <a:latin typeface="Calibri"/>
              </a:rPr>
              <a:t>• Особенности травмы временных зубов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5"/>
                </a:solidFill>
                <a:latin typeface="Calibri"/>
              </a:rPr>
              <a:t>БГМУ · 5 курс · Острая травма зубов · #5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5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3A4A"/>
                </a:solidFill>
                <a:latin typeface="Calibri"/>
              </a:rPr>
              <a:t>Определение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A3A4A"/>
                </a:solidFill>
                <a:latin typeface="Calibri"/>
              </a:rPr>
              <a:t>• Острая травма зуба — повреждение зуба и/или окружающих тканей вследствие одномоментного воздействия внешней силы.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A32"/>
                </a:solidFill>
                <a:latin typeface="Calibri"/>
              </a:rPr>
              <a:t>• Включает повреждения эмали, дентина, пульпы, цемента, периодонта, альвеолярной кости и мягких тканей.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A32"/>
                </a:solidFill>
                <a:latin typeface="Calibri"/>
              </a:rPr>
              <a:t>• Чаще всего страдают передние зубы верхней челюсти (центральные резцы).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A32"/>
                </a:solidFill>
                <a:latin typeface="Calibri"/>
              </a:rPr>
              <a:t>• Пик травматизма: 2–4 года (временные) и 8–12 лет (постоянные).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A32"/>
                </a:solidFill>
                <a:latin typeface="Calibri"/>
              </a:rPr>
              <a:t>• Основные причины: падения, спорт, ДТП, бытовой и криминальный травматизм.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5"/>
                </a:solidFill>
                <a:latin typeface="Calibri"/>
              </a:rPr>
              <a:t>БГМУ · 5 курс · Острая травма зубов · #5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5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3A4A"/>
                </a:solidFill>
                <a:latin typeface="Calibri"/>
              </a:rPr>
              <a:t>Эпидемиология и факторы риска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566160" cy="4389120"/>
          </a:xfrm>
          <a:prstGeom prst="round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3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A6F7A"/>
                </a:solidFill>
                <a:latin typeface="Calibri"/>
              </a:rPr>
              <a:t>Частота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До 25–30% детей имеют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опыт травмы постоянных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зубов к 14 годам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Мальчики травмируются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примерно в 1,5–2 раза чаще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Верхние центральные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резцы — до 70–80%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всех случаев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97280"/>
            <a:ext cx="3566160" cy="4389120"/>
          </a:xfrm>
          <a:prstGeom prst="roundRect">
            <a:avLst/>
          </a:prstGeom>
          <a:solidFill>
            <a:srgbClr val="FB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23443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45C26"/>
                </a:solidFill>
                <a:latin typeface="Calibri"/>
              </a:rPr>
              <a:t>Факторы риска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0020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Протрузия резцов,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открытый прикус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Недостаточная длина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верхней губы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Кариес, ослабленная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коронка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Эпилепсия, ADHD,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нарушения координации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566160" cy="4389120"/>
          </a:xfrm>
          <a:prstGeom prst="round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23443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A6F7A"/>
                </a:solidFill>
                <a:latin typeface="Calibri"/>
              </a:rPr>
              <a:t>Ситуации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60020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Спорт (хоккей, футбол,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велосипед, скейт)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Игровая площадка,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школа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ДТП и бытовые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несчастные случаи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Драка / насилие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(исключить жестокость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к ребёнку!)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5"/>
                </a:solidFill>
                <a:latin typeface="Calibri"/>
              </a:rPr>
              <a:t>БГМУ · 5 курс · Острая травма зубов · #5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5508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5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3A4A"/>
                </a:solidFill>
                <a:latin typeface="Calibri"/>
              </a:rPr>
              <a:t>Классификация (ВОЗ / Andreasen)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A3A4A"/>
                </a:solidFill>
                <a:latin typeface="Calibri"/>
              </a:rPr>
              <a:t>• I. Травмы твёрдых тканей зуба и пульпы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E2A32"/>
                </a:solidFill>
                <a:latin typeface="Calibri"/>
              </a:rPr>
              <a:t>– Трещина эмали; перелом коронки (неосложнённый / осложнённый); перелом коронки и корня; перелом корня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A3A4A"/>
                </a:solidFill>
                <a:latin typeface="Calibri"/>
              </a:rPr>
              <a:t>• II. Травмы периодонта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E2A32"/>
                </a:solidFill>
                <a:latin typeface="Calibri"/>
              </a:rPr>
              <a:t>– Сотрясение; подвывих; экструзивный, латеральный, интрузивный вывих; полный вывих (авульсия)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A3A4A"/>
                </a:solidFill>
                <a:latin typeface="Calibri"/>
              </a:rPr>
              <a:t>• III. Травмы поддерживающей кости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E2A32"/>
                </a:solidFill>
                <a:latin typeface="Calibri"/>
              </a:rPr>
              <a:t>– Перелом стенки альвеолы, альвеолярного отростка, челюсти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A3A4A"/>
                </a:solidFill>
                <a:latin typeface="Calibri"/>
              </a:rPr>
              <a:t>• IV. Травмы мягких тканей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E2A32"/>
                </a:solidFill>
                <a:latin typeface="Calibri"/>
              </a:rPr>
              <a:t>– Ушиб, ссадина, разрыв, укус губ, десны, языка, слизистой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5"/>
                </a:solidFill>
                <a:latin typeface="Calibri"/>
              </a:rPr>
              <a:t>БГМУ · 5 курс · Острая травма зубов · #5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5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3A4A"/>
                </a:solidFill>
                <a:latin typeface="Calibri"/>
              </a:rPr>
              <a:t>Обследование пациента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A3A4A"/>
                </a:solidFill>
                <a:latin typeface="Calibri"/>
              </a:rPr>
              <a:t>• Анамнез: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E2A32"/>
                </a:solidFill>
                <a:latin typeface="Calibri"/>
              </a:rPr>
              <a:t>– Когда, где, как произошла травма; тетанус; потеря сознания / тошнота (исключить ЧМТ!)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A3A4A"/>
                </a:solidFill>
                <a:latin typeface="Calibri"/>
              </a:rPr>
              <a:t>• Клиника: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E2A32"/>
                </a:solidFill>
                <a:latin typeface="Calibri"/>
              </a:rPr>
              <a:t>– Осмотр лица, мягких тканей, прикуса; подвижность; перкуссия; зондирование; цвет коронки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A3A4A"/>
                </a:solidFill>
                <a:latin typeface="Calibri"/>
              </a:rPr>
              <a:t>• Тесты пульпы: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E2A32"/>
                </a:solidFill>
                <a:latin typeface="Calibri"/>
              </a:rPr>
              <a:t>– ЭОД / холодовая проба — осторожно: сразу после травмы возможна ложная отрицательная реакция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A3A4A"/>
                </a:solidFill>
                <a:latin typeface="Calibri"/>
              </a:rPr>
              <a:t>• Рентген: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E2A32"/>
                </a:solidFill>
                <a:latin typeface="Calibri"/>
              </a:rPr>
              <a:t>– Прицельный снимок, окклюзионный, при необходимости КЛКТ; поиск фрагментов в мягких тканях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E2A32"/>
                </a:solidFill>
                <a:latin typeface="Calibri"/>
              </a:rPr>
              <a:t>– Фотофиксация и согласие на лечение — обязательны при травме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5"/>
                </a:solidFill>
                <a:latin typeface="Calibri"/>
              </a:rPr>
              <a:t>БГМУ · 5 курс · Острая травма зубов · #5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5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3A4A"/>
                </a:solidFill>
                <a:latin typeface="Calibri"/>
              </a:rPr>
              <a:t>Трещина эмали и перелом коронки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4572000"/>
          </a:xfrm>
          <a:prstGeom prst="round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A6F7A"/>
                </a:solidFill>
                <a:latin typeface="Calibri"/>
              </a:rPr>
              <a:t>Неосложнённый перелом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Только эмаль или эмаль + дентин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без вскрытия пульпы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Лечение: сглаживание краёв,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покрытие дентина (ГИС / адгезив),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реставрация композитом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или реаттачмент фрагмента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Контроль витальности пульпы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через 1, 3, 6, 12 мес.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4572000"/>
          </a:xfrm>
          <a:prstGeom prst="roundRect">
            <a:avLst/>
          </a:prstGeom>
          <a:solidFill>
            <a:srgbClr val="FB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344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45C26"/>
                </a:solidFill>
                <a:latin typeface="Calibri"/>
              </a:rPr>
              <a:t>Осложнённый перелом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Вскрытие пульпы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Несформированный корень: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прямое покрытие / частичная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пульпотомия (Cvek) — MTA / BC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Сформированный корень: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эндодонтическое лечение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или витальные методы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по показаниям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Затем эстетическая реставрация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5"/>
                </a:solidFill>
                <a:latin typeface="Calibri"/>
              </a:rPr>
              <a:t>БГМУ · 5 курс · Острая травма зубов · #5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35508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5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3A4A"/>
                </a:solidFill>
                <a:latin typeface="Calibri"/>
              </a:rPr>
              <a:t>Перелом корня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E2A32"/>
                </a:solidFill>
                <a:latin typeface="Calibri"/>
              </a:rPr>
              <a:t>• Классификация по уровню: апикальная, средняя, корональная треть.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A32"/>
                </a:solidFill>
                <a:latin typeface="Calibri"/>
              </a:rPr>
              <a:t>• Клиника: подвижность коронковой части, болезненная перкуссия, иногда смещение.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A32"/>
                </a:solidFill>
                <a:latin typeface="Calibri"/>
              </a:rPr>
              <a:t>• Диагностика: несколько прицельных снимков под разными углами / КЛКТ.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A3A4A"/>
                </a:solidFill>
                <a:latin typeface="Calibri"/>
              </a:rPr>
              <a:t>• Лечение: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E2A32"/>
                </a:solidFill>
                <a:latin typeface="Calibri"/>
              </a:rPr>
              <a:t>– Репозиция коронкового фрагмента и шинирование на 4 недели (при корональной трети — дольше).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E2A32"/>
                </a:solidFill>
                <a:latin typeface="Calibri"/>
              </a:rPr>
              <a:t>– Контроль пульпы; при некрозе — эндодонтия только коронкового фрагмента.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E2A32"/>
                </a:solidFill>
                <a:latin typeface="Calibri"/>
              </a:rPr>
              <a:t>– Апикальный фрагмент часто остаётся витальным и не требует вмешательства.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A32"/>
                </a:solidFill>
                <a:latin typeface="Calibri"/>
              </a:rPr>
              <a:t>• Прогноз лучше при апикальных переломах и несформированной верхушке.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5"/>
                </a:solidFill>
                <a:latin typeface="Calibri"/>
              </a:rPr>
              <a:t>БГМУ · 5 курс · Острая травма зубов · #5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5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3A4A"/>
                </a:solidFill>
                <a:latin typeface="Calibri"/>
              </a:rPr>
              <a:t>Травмы периодонта (люксации)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11247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61288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A6F7A"/>
                </a:solidFill>
                <a:latin typeface="Calibri"/>
              </a:rPr>
              <a:t>Сотрясение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16128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A32"/>
                </a:solidFill>
                <a:latin typeface="Calibri"/>
              </a:rPr>
              <a:t>Боль при перкуссии, без смещения и подвижности. Наблюдение.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247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21408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A6F7A"/>
                </a:solidFill>
                <a:latin typeface="Calibri"/>
              </a:rPr>
              <a:t>Подвывих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2140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A32"/>
                </a:solidFill>
                <a:latin typeface="Calibri"/>
              </a:rPr>
              <a:t>Повышенная подвижность без смещения. Шинирование 2 нед. при необходимости.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71800"/>
            <a:ext cx="11247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81528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A6F7A"/>
                </a:solidFill>
                <a:latin typeface="Calibri"/>
              </a:rPr>
              <a:t>Экструзия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815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A32"/>
                </a:solidFill>
                <a:latin typeface="Calibri"/>
              </a:rPr>
              <a:t>Частичное выдвижение из лунки по оси. Репозиция + шина 2 нед.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11247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41648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A6F7A"/>
                </a:solidFill>
                <a:latin typeface="Calibri"/>
              </a:rPr>
              <a:t>Латеральный вывих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04164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A32"/>
                </a:solidFill>
                <a:latin typeface="Calibri"/>
              </a:rPr>
              <a:t>Смещение с переломом/сдавлением альвеолы. Репозиция + шина 4 нед.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92040"/>
            <a:ext cx="11247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001768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A6F7A"/>
                </a:solidFill>
                <a:latin typeface="Calibri"/>
              </a:rPr>
              <a:t>Интрузия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00176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A32"/>
                </a:solidFill>
                <a:latin typeface="Calibri"/>
              </a:rPr>
              <a:t>Вколоченный зуб. Тактика зависит от степени и стадии корня.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5"/>
                </a:solidFill>
                <a:latin typeface="Calibri"/>
              </a:rPr>
              <a:t>БГМУ · 5 курс · Острая травма зубов · #5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35508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5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3A4A"/>
                </a:solidFill>
                <a:latin typeface="Calibri"/>
              </a:rPr>
              <a:t>Интрузивный вывих — тактика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A3A4A"/>
                </a:solidFill>
                <a:latin typeface="Calibri"/>
              </a:rPr>
              <a:t>• Несформированный корень (открытая верхушка):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E2A32"/>
                </a:solidFill>
                <a:latin typeface="Calibri"/>
              </a:rPr>
              <a:t>– Допускается выжидание спонтанной реэрупции (до 3–4 недель наблюдения).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E2A32"/>
                </a:solidFill>
                <a:latin typeface="Calibri"/>
              </a:rPr>
              <a:t>– При отсутствии движения — ортодонтическая или хирургическая репозиция.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A3A4A"/>
                </a:solidFill>
                <a:latin typeface="Calibri"/>
              </a:rPr>
              <a:t>• Сформированный корень: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E2A32"/>
                </a:solidFill>
                <a:latin typeface="Calibri"/>
              </a:rPr>
              <a:t>– Хирургическая или ортодонтическая репозиция + шинирование 4 недели.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E2A32"/>
                </a:solidFill>
                <a:latin typeface="Calibri"/>
              </a:rPr>
              <a:t>– Высокий риск некроза пульпы → ранняя эндодонтия, профилактика резорбции (гидроксид кальция / MTA).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A32"/>
                </a:solidFill>
                <a:latin typeface="Calibri"/>
              </a:rPr>
              <a:t>• Риск: заменительная резорбция корня, анкилоз, потеря зуба.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A32"/>
                </a:solidFill>
                <a:latin typeface="Calibri"/>
              </a:rPr>
              <a:t>• Контроль: рентген и клинический осмотр по графику IADT.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5"/>
                </a:solidFill>
                <a:latin typeface="Calibri"/>
              </a:rPr>
              <a:t>БГМУ · 5 курс · Острая травма зубов · #5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5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3A4A"/>
                </a:solidFill>
                <a:latin typeface="Calibri"/>
              </a:rPr>
              <a:t>Полный вывих (авульсия) — «золотой час»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5486400" cy="4663440"/>
          </a:xfrm>
          <a:prstGeom prst="roundRect">
            <a:avLst/>
          </a:prstGeom>
          <a:solidFill>
            <a:srgbClr val="FB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1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45C26"/>
                </a:solidFill>
                <a:latin typeface="Calibri"/>
              </a:rPr>
              <a:t>Первая помощь на месте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1206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1. Найти зуб, держать за коронку!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2. Не тереть корень, не scrub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3. При загрязнении — промыть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 физраствором / молоком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4. По возможности — немедленная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 реплантация в лунку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5. Если нельзя — хранить в: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 • молоке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 • физрастворе / HBSS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 • слюне (щечный карман)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6. НЕ в воде! НЕ в сухую!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7. Срочно к стоматологу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486400" cy="4663440"/>
          </a:xfrm>
          <a:prstGeom prst="round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1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A6F7A"/>
                </a:solidFill>
                <a:latin typeface="Calibri"/>
              </a:rPr>
              <a:t>В клинике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1206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Оценить время внелунки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и среду хранения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Промыть лунку, реплантировать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Гибкая шина 2 недели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(при переломе кости — 4 нед.)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Антибиотик, столбняк —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по показаниям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Открытая верхушка: возможна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реваскуляризация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Закрытая верхушка: эндодонтия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через 7–10 дней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Прогноз ↓ при &gt;60 мин сухого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хранения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5"/>
                </a:solidFill>
                <a:latin typeface="Calibri"/>
              </a:rPr>
              <a:t>БГМУ · 5 курс · Острая травма зубов · #5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35508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5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3A4A"/>
                </a:solidFill>
                <a:latin typeface="Calibri"/>
              </a:rPr>
              <a:t>Шинирование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E2A32"/>
                </a:solidFill>
                <a:latin typeface="Calibri"/>
              </a:rPr>
              <a:t>• Предпочтительны гибкие шины (проволока + композит, стекловолокно) — сохраняют физиологическую подвижность.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A32"/>
                </a:solidFill>
                <a:latin typeface="Calibri"/>
              </a:rPr>
              <a:t>• Жёсткие шины и длительная иммобилизация повышают риск анкилоза и резорбции.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A3A4A"/>
                </a:solidFill>
                <a:latin typeface="Calibri"/>
              </a:rPr>
              <a:t>• Ориентиры по срокам (IADT):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E2A32"/>
                </a:solidFill>
                <a:latin typeface="Calibri"/>
              </a:rPr>
              <a:t>– Подвывих / экструзия / авульсия — около 2 недель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E2A32"/>
                </a:solidFill>
                <a:latin typeface="Calibri"/>
              </a:rPr>
              <a:t>– Латеральный вывих / интрузия / перелом корня — около 4 недель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E2A32"/>
                </a:solidFill>
                <a:latin typeface="Calibri"/>
              </a:rPr>
              <a:t>– Перелом альвеолы — до 4 недель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A32"/>
                </a:solidFill>
                <a:latin typeface="Calibri"/>
              </a:rPr>
              <a:t>• Гигиена, мягкая диета, исключение нагрузки на травмированные зубы.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A32"/>
                </a:solidFill>
                <a:latin typeface="Calibri"/>
              </a:rPr>
              <a:t>• Контроль окклюзии: устранить преждевременные контакты.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5"/>
                </a:solidFill>
                <a:latin typeface="Calibri"/>
              </a:rPr>
              <a:t>БГМУ · 5 курс · Острая травма зубов · #5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5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3A4A"/>
                </a:solidFill>
                <a:latin typeface="Calibri"/>
              </a:rPr>
              <a:t>Особенности травмы временных зубов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E2A32"/>
                </a:solidFill>
                <a:latin typeface="Calibri"/>
              </a:rPr>
              <a:t>• Главный принцип: не навредить зачатку постоянного зуба.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A32"/>
                </a:solidFill>
                <a:latin typeface="Calibri"/>
              </a:rPr>
              <a:t>• Полный вывих временного зуба — НЕ реплантируют.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A32"/>
                </a:solidFill>
                <a:latin typeface="Calibri"/>
              </a:rPr>
              <a:t>• Интрузия: часто выжидательная тактика; при направлении на зачаток — удаление.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A32"/>
                </a:solidFill>
                <a:latin typeface="Calibri"/>
              </a:rPr>
              <a:t>• Переломы корня / выраженное смещение — чаще удаление коронкового фрагмента.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A32"/>
                </a:solidFill>
                <a:latin typeface="Calibri"/>
              </a:rPr>
              <a:t>• Родители: предупредить о возможных нарушениях прорезывания постоянного зуба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A32"/>
                </a:solidFill>
                <a:latin typeface="Calibri"/>
              </a:rPr>
              <a:t>• (гипоплазия эмали, дистопия, задержка прорезывания, редко — одонтома).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A32"/>
                </a:solidFill>
                <a:latin typeface="Calibri"/>
              </a:rPr>
              <a:t>• Обязателен рентген-контроль и наблюдение до прорезывания постоянного зуба.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5"/>
                </a:solidFill>
                <a:latin typeface="Calibri"/>
              </a:rPr>
              <a:t>БГМУ · 5 курс · Острая травма зубов · #5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5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3A4A"/>
                </a:solidFill>
                <a:latin typeface="Calibri"/>
              </a:rPr>
              <a:t>Осложнения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657600" cy="4572000"/>
          </a:xfrm>
          <a:prstGeom prst="round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3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A6F7A"/>
                </a:solidFill>
                <a:latin typeface="Calibri"/>
              </a:rPr>
              <a:t>Пульпа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Некроз пульпы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Облитерация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корневого канала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Внутренняя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резорбция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Периапикальный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периодонтит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97280"/>
            <a:ext cx="3657600" cy="4572000"/>
          </a:xfrm>
          <a:prstGeom prst="roundRect">
            <a:avLst/>
          </a:prstGeom>
          <a:solidFill>
            <a:srgbClr val="FB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23443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45C26"/>
                </a:solidFill>
                <a:latin typeface="Calibri"/>
              </a:rPr>
              <a:t>Периодонт / корень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0020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Воспалительная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резорбция корня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Заменительная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резорбция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(анкилоз)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Потеря зуба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Нарушение роста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альвеолы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657600" cy="4572000"/>
          </a:xfrm>
          <a:prstGeom prst="round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23443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A6F7A"/>
                </a:solidFill>
                <a:latin typeface="Calibri"/>
              </a:rPr>
              <a:t>Прочее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60020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Дисколорит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коронки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Свищ, абсцесс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Эстетические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дефекты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• Психологический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дискомфорт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A32"/>
                </a:solidFill>
                <a:latin typeface="Calibri"/>
              </a:rPr>
              <a:t>  пациента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5"/>
                </a:solidFill>
                <a:latin typeface="Calibri"/>
              </a:rPr>
              <a:t>БГМУ · 5 курс · Острая травма зубов · #5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5508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5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3A4A"/>
                </a:solidFill>
                <a:latin typeface="Calibri"/>
              </a:rPr>
              <a:t>Диспансеризация (ориентир IADT)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E2A32"/>
                </a:solidFill>
                <a:latin typeface="Calibri"/>
              </a:rPr>
              <a:t>• Типичный график контроля: 2 недели → 4 недели → 3 месяца → 6 месяцев → 1 год → далее ежегодно.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A32"/>
                </a:solidFill>
                <a:latin typeface="Calibri"/>
              </a:rPr>
              <a:t>• На каждом визите: жалобы, цвет, подвижность, перкуссия, зондирование десны, тест пульпы, рентген.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A32"/>
                </a:solidFill>
                <a:latin typeface="Calibri"/>
              </a:rPr>
              <a:t>• Ранние признаки неблагополучия: серый/розовый цвет, свищ, нарастающая подвижность, просветление у верхушки,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A32"/>
                </a:solidFill>
                <a:latin typeface="Calibri"/>
              </a:rPr>
              <a:t>• симптомы резорбции на снимке.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A32"/>
                </a:solidFill>
                <a:latin typeface="Calibri"/>
              </a:rPr>
              <a:t>• Документирование динамики обязательно (карта травмы, фото, снимки).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A32"/>
                </a:solidFill>
                <a:latin typeface="Calibri"/>
              </a:rPr>
              <a:t>• При несформированных корнях — особое внимание к продолжению апексогенеза.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5"/>
                </a:solidFill>
                <a:latin typeface="Calibri"/>
              </a:rPr>
              <a:t>БГМУ · 5 курс · Острая травма зубов · #5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5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3A4A"/>
                </a:solidFill>
                <a:latin typeface="Calibri"/>
              </a:rPr>
              <a:t>Профилактика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E2A32"/>
                </a:solidFill>
                <a:latin typeface="Calibri"/>
              </a:rPr>
              <a:t>• Индивидуальные капы при контактных видах спорта.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A32"/>
                </a:solidFill>
                <a:latin typeface="Calibri"/>
              </a:rPr>
              <a:t>• Раннее ортодонтическое лечение выраженной протрузии резцов.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A32"/>
                </a:solidFill>
                <a:latin typeface="Calibri"/>
              </a:rPr>
              <a:t>• Безопасная среда: ремни безопасности, шлемы, ограждения площадок.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A32"/>
                </a:solidFill>
                <a:latin typeface="Calibri"/>
              </a:rPr>
              <a:t>• Обучение населения и педагогов алгоритму первой помощи при авульсии.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A32"/>
                </a:solidFill>
                <a:latin typeface="Calibri"/>
              </a:rPr>
              <a:t>• Санация полости рта — снижение риска «слабой» коронки при ударе.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A32"/>
                </a:solidFill>
                <a:latin typeface="Calibri"/>
              </a:rPr>
              <a:t>• Информирование родителей дошкольников о высоком риске травм в 2–4 года.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5"/>
                </a:solidFill>
                <a:latin typeface="Calibri"/>
              </a:rPr>
              <a:t>БГМУ · 5 курс · Острая травма зубов · #5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5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3A4A"/>
                </a:solidFill>
                <a:latin typeface="Calibri"/>
              </a:rPr>
              <a:t>Ключевые 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E2A32"/>
                </a:solidFill>
                <a:latin typeface="Calibri"/>
              </a:rPr>
              <a:t>• Травма зуба — неотложное состояние: время решает прогноз, особенно при авульсии.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A32"/>
                </a:solidFill>
                <a:latin typeface="Calibri"/>
              </a:rPr>
              <a:t>• Диагноз строится на клинике + рентгене; тест пульпы сразу после травмы ненадёжен.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A32"/>
                </a:solidFill>
                <a:latin typeface="Calibri"/>
              </a:rPr>
              <a:t>• Гибкое краткосрочное шинирование и контроль окклюзии — основа лечения люксаций.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A32"/>
                </a:solidFill>
                <a:latin typeface="Calibri"/>
              </a:rPr>
              <a:t>• Временные зубы: приоритет — сохранность зачатка постоянного; авульсию не реплантируют.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A32"/>
                </a:solidFill>
                <a:latin typeface="Calibri"/>
              </a:rPr>
              <a:t>• Длительное наблюдение необходимо для раннего выявления некроза и резорбции.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A32"/>
                </a:solidFill>
                <a:latin typeface="Calibri"/>
              </a:rPr>
              <a:t>• Следуйте актуальным рекомендациям IADT и национальным протоколам.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5"/>
                </a:solidFill>
                <a:latin typeface="Calibri"/>
              </a:rPr>
              <a:t>БГМУ · 5 курс · Острая травма зубов · #5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5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1828800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Спасибо за внимание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D0E4E8"/>
                </a:solidFill>
                <a:latin typeface="Calibri"/>
              </a:rPr>
              <a:t>Вопросы?  ·  БГМУ, 5 курс  ·  Лекция №5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8C0C8"/>
                </a:solidFill>
                <a:latin typeface="Calibri"/>
              </a:rPr>
              <a:t>Литература: рекомендации IADT (Dental Traumatology); клинические протоколы РБ;</a:t>
            </a:r>
          </a:p>
          <a:p>
            <a:pPr algn="ctr"/>
            <a:r>
              <a:rPr sz="1300" b="0">
                <a:solidFill>
                  <a:srgbClr val="A8C0C8"/>
                </a:solidFill>
                <a:latin typeface="Calibri"/>
              </a:rPr>
              <a:t>Andreasen J.O. et al. Traumatic Dental Injuries; учебники терапевтической стоматологии БГМУ.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